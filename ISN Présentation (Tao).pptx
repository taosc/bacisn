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media/image12.wmf" ContentType="image/x-wmf"/>
  <Override PartName="/ppt/media/image1.png" ContentType="image/png"/>
  <Override PartName="/ppt/media/image2.png" ContentType="image/png"/>
  <Override PartName="/ppt/media/image9.jpeg" ContentType="image/jpe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10.jpeg" ContentType="image/jpeg"/>
  <Override PartName="/ppt/media/image11.jpeg" ContentType="image/jpeg"/>
  <Override PartName="/ppt/media/image13.png" ContentType="image/png"/>
  <Override PartName="/ppt/media/image14.png" ContentType="image/png"/>
  <Override PartName="/ppt/media/image15.png" ContentType="image/png"/>
  <Override PartName="/ppt/_rels/presentation.xml.rels" ContentType="application/vnd.openxmlformats-package.relationships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4" name="" descr=""/>
          <p:cNvPicPr/>
          <p:nvPr/>
        </p:nvPicPr>
        <p:blipFill>
          <a:blip r:embed="rId2"/>
          <a:stretch/>
        </p:blipFill>
        <p:spPr>
          <a:xfrm>
            <a:off x="3600720" y="1604520"/>
            <a:ext cx="4989240" cy="3977280"/>
          </a:xfrm>
          <a:prstGeom prst="rect">
            <a:avLst/>
          </a:prstGeom>
          <a:ln>
            <a:noFill/>
          </a:ln>
        </p:spPr>
      </p:pic>
      <p:pic>
        <p:nvPicPr>
          <p:cNvPr id="35" name="" descr=""/>
          <p:cNvPicPr/>
          <p:nvPr/>
        </p:nvPicPr>
        <p:blipFill>
          <a:blip r:embed="rId3"/>
          <a:stretch/>
        </p:blipFill>
        <p:spPr>
          <a:xfrm>
            <a:off x="3600720" y="1604520"/>
            <a:ext cx="4989240" cy="3977280"/>
          </a:xfrm>
          <a:prstGeom prst="rect">
            <a:avLst/>
          </a:prstGeom>
          <a:ln>
            <a:noFill/>
          </a:ln>
        </p:spPr>
      </p:pic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0" name="" descr=""/>
          <p:cNvPicPr/>
          <p:nvPr/>
        </p:nvPicPr>
        <p:blipFill>
          <a:blip r:embed="rId2"/>
          <a:stretch/>
        </p:blipFill>
        <p:spPr>
          <a:xfrm>
            <a:off x="3600720" y="1604520"/>
            <a:ext cx="4989240" cy="3977280"/>
          </a:xfrm>
          <a:prstGeom prst="rect">
            <a:avLst/>
          </a:prstGeom>
          <a:ln>
            <a:noFill/>
          </a:ln>
        </p:spPr>
      </p:pic>
      <p:pic>
        <p:nvPicPr>
          <p:cNvPr id="71" name="" descr=""/>
          <p:cNvPicPr/>
          <p:nvPr/>
        </p:nvPicPr>
        <p:blipFill>
          <a:blip r:embed="rId3"/>
          <a:stretch/>
        </p:blipFill>
        <p:spPr>
          <a:xfrm>
            <a:off x="3600720" y="1604520"/>
            <a:ext cx="4989240" cy="397728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US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Cliquez pour éditer le format du texte-titre</a:t>
            </a:r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Cliquez pour éditer le format du plan de texte</a:t>
            </a:r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niveau de plan</a:t>
            </a:r>
            <a:endParaRPr b="0" lang="en-US" sz="2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Troisième niveau de plan</a:t>
            </a:r>
            <a:endParaRPr b="0" lang="en-US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Quatrième niveau de plan</a:t>
            </a:r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Cinquième niveau de plan</a:t>
            </a:r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Sixième niveau de plan</a:t>
            </a:r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Septième niveau de plan</a:t>
            </a:r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US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Cliquez pour éditer le format du texte-titre</a:t>
            </a:r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Cliquez pour éditer le format du plan de texte</a:t>
            </a:r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niveau de plan</a:t>
            </a:r>
            <a:endParaRPr b="0" lang="en-US" sz="2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Troisième niveau de plan</a:t>
            </a:r>
            <a:endParaRPr b="0" lang="en-US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Quatrième niveau de plan</a:t>
            </a:r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Cinquième niveau de plan</a:t>
            </a:r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Sixième niveau de plan</a:t>
            </a:r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Septième niveau de plan</a:t>
            </a:r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2.wmf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ustomShape 1"/>
          <p:cNvSpPr/>
          <p:nvPr/>
        </p:nvSpPr>
        <p:spPr>
          <a:xfrm>
            <a:off x="1523880" y="309600"/>
            <a:ext cx="9142200" cy="799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algn="ctr">
              <a:lnSpc>
                <a:spcPct val="100000"/>
              </a:lnSpc>
            </a:pPr>
            <a:r>
              <a:rPr b="0" lang="en-US" sz="6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  <a:ea typeface="DejaVu Sans"/>
              </a:rPr>
              <a:t>ATFCHAT</a:t>
            </a:r>
            <a:endParaRPr b="0" lang="en-US" sz="6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3" name="Image 3" descr=""/>
          <p:cNvPicPr/>
          <p:nvPr/>
        </p:nvPicPr>
        <p:blipFill>
          <a:blip r:embed="rId1"/>
          <a:stretch/>
        </p:blipFill>
        <p:spPr>
          <a:xfrm>
            <a:off x="0" y="1080000"/>
            <a:ext cx="12190320" cy="49892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CustomShape 1"/>
          <p:cNvSpPr/>
          <p:nvPr/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  <a:ea typeface="DejaVu Sans"/>
              </a:rPr>
              <a:t>But du site web et contrôles</a:t>
            </a:r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5" name="Espace réservé du contenu 3" descr=""/>
          <p:cNvPicPr/>
          <p:nvPr/>
        </p:nvPicPr>
        <p:blipFill>
          <a:blip r:embed="rId1"/>
          <a:stretch/>
        </p:blipFill>
        <p:spPr>
          <a:xfrm>
            <a:off x="322560" y="4895640"/>
            <a:ext cx="3850560" cy="1560600"/>
          </a:xfrm>
          <a:prstGeom prst="rect">
            <a:avLst/>
          </a:prstGeom>
          <a:ln>
            <a:noFill/>
          </a:ln>
        </p:spPr>
      </p:pic>
      <p:sp>
        <p:nvSpPr>
          <p:cNvPr id="76" name="CustomShape 2"/>
          <p:cNvSpPr/>
          <p:nvPr/>
        </p:nvSpPr>
        <p:spPr>
          <a:xfrm>
            <a:off x="464400" y="1690560"/>
            <a:ext cx="3093120" cy="363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Moyens d’interaction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7" name="Image 5" descr=""/>
          <p:cNvPicPr/>
          <p:nvPr/>
        </p:nvPicPr>
        <p:blipFill>
          <a:blip r:embed="rId2"/>
          <a:stretch/>
        </p:blipFill>
        <p:spPr>
          <a:xfrm>
            <a:off x="926280" y="2392560"/>
            <a:ext cx="2169000" cy="2169000"/>
          </a:xfrm>
          <a:prstGeom prst="rect">
            <a:avLst/>
          </a:prstGeom>
          <a:ln>
            <a:noFill/>
          </a:ln>
        </p:spPr>
      </p:pic>
      <p:pic>
        <p:nvPicPr>
          <p:cNvPr id="78" name="Image 6" descr=""/>
          <p:cNvPicPr/>
          <p:nvPr/>
        </p:nvPicPr>
        <p:blipFill>
          <a:blip r:embed="rId3"/>
          <a:stretch/>
        </p:blipFill>
        <p:spPr>
          <a:xfrm>
            <a:off x="4938120" y="2065320"/>
            <a:ext cx="6843960" cy="37555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ustomShape 1"/>
          <p:cNvSpPr/>
          <p:nvPr/>
        </p:nvSpPr>
        <p:spPr>
          <a:xfrm>
            <a:off x="838080" y="365040"/>
            <a:ext cx="10513800" cy="89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  <a:ea typeface="DejaVu Sans"/>
              </a:rPr>
              <a:t>Résumé des fonctionnalités</a:t>
            </a:r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80" name="Image 2" descr=""/>
          <p:cNvPicPr/>
          <p:nvPr/>
        </p:nvPicPr>
        <p:blipFill>
          <a:blip r:embed="rId1"/>
          <a:stretch/>
        </p:blipFill>
        <p:spPr>
          <a:xfrm>
            <a:off x="1225080" y="1073160"/>
            <a:ext cx="9740520" cy="57830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5" dur="indefinite" restart="never" nodeType="tmRoot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Espace réservé du contenu 4" descr=""/>
          <p:cNvPicPr/>
          <p:nvPr/>
        </p:nvPicPr>
        <p:blipFill>
          <a:blip r:embed="rId1"/>
          <a:stretch/>
        </p:blipFill>
        <p:spPr>
          <a:xfrm>
            <a:off x="437400" y="1008000"/>
            <a:ext cx="11316240" cy="5541120"/>
          </a:xfrm>
          <a:prstGeom prst="rect">
            <a:avLst/>
          </a:prstGeom>
          <a:ln>
            <a:noFill/>
          </a:ln>
        </p:spPr>
      </p:pic>
      <p:sp>
        <p:nvSpPr>
          <p:cNvPr id="82" name="CustomShape 1"/>
          <p:cNvSpPr/>
          <p:nvPr/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  <a:ea typeface="DejaVu Sans"/>
              </a:rPr>
              <a:t>Organisation du travail</a:t>
            </a:r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7" dur="indefinite" restart="never" nodeType="tmRoot">
          <p:childTnLst>
            <p:seq>
              <p:cTn id="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Espace réservé du contenu 3" descr=""/>
          <p:cNvPicPr/>
          <p:nvPr/>
        </p:nvPicPr>
        <p:blipFill>
          <a:blip r:embed="rId1"/>
          <a:stretch/>
        </p:blipFill>
        <p:spPr>
          <a:xfrm>
            <a:off x="303840" y="677880"/>
            <a:ext cx="11583360" cy="55011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9" dur="indefinite" restart="never" nodeType="tmRoot">
          <p:childTnLst>
            <p:seq>
              <p:cTn id="1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  <a:ea typeface="DejaVu Sans"/>
              </a:rPr>
              <a:t>Structure globale du projet</a:t>
            </a:r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85" name="Image 3" descr=""/>
          <p:cNvPicPr/>
          <p:nvPr/>
        </p:nvPicPr>
        <p:blipFill>
          <a:blip r:embed="rId1"/>
          <a:stretch/>
        </p:blipFill>
        <p:spPr>
          <a:xfrm>
            <a:off x="1524240" y="1372680"/>
            <a:ext cx="9142200" cy="68562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1" dur="indefinite" restart="never" nodeType="tmRoot">
          <p:childTnLst>
            <p:seq>
              <p:cTn id="1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  <a:ea typeface="DejaVu Sans"/>
              </a:rPr>
              <a:t>Modèle MVC</a:t>
            </a:r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87" name="Image 3" descr=""/>
          <p:cNvPicPr/>
          <p:nvPr/>
        </p:nvPicPr>
        <p:blipFill>
          <a:blip r:embed="rId1"/>
          <a:stretch/>
        </p:blipFill>
        <p:spPr>
          <a:xfrm>
            <a:off x="2495880" y="1379520"/>
            <a:ext cx="7199280" cy="53067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3" dur="indefinite" restart="never" nodeType="tmRoot">
          <p:childTnLst>
            <p:seq>
              <p:cTn id="1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861120" y="115200"/>
            <a:ext cx="10513800" cy="132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  <a:ea typeface="DejaVu Sans"/>
              </a:rPr>
              <a:t>Gestion du membre (contrôleur)</a:t>
            </a:r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9" name="CustomShape 2"/>
          <p:cNvSpPr/>
          <p:nvPr/>
        </p:nvSpPr>
        <p:spPr>
          <a:xfrm>
            <a:off x="2405520" y="3649320"/>
            <a:ext cx="7379640" cy="2469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&lt;?php</a:t>
            </a:r>
            <a:endParaRPr b="0" lang="en-US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400" spc="-1" strike="noStrike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if</a:t>
            </a: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($currentMemberId) {</a:t>
            </a:r>
            <a:endParaRPr b="0" lang="en-US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Members\Handling::logout</a:t>
            </a: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();</a:t>
            </a:r>
            <a:endParaRPr b="0" lang="en-US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if</a:t>
            </a: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(</a:t>
            </a:r>
            <a:r>
              <a:rPr b="0" lang="en-US" sz="140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isset</a:t>
            </a: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($params[2]) AND !</a:t>
            </a:r>
            <a:r>
              <a:rPr b="0" lang="en-US" sz="140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mb_strpos</a:t>
            </a: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($params[2], </a:t>
            </a:r>
            <a:r>
              <a:rPr b="0" lang="en-US" sz="1400" spc="-1" strike="noStrike">
                <a:solidFill>
                  <a:srgbClr val="ffc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'=2Fadmin=2F</a:t>
            </a: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'))</a:t>
            </a:r>
            <a:endParaRPr b="0" lang="en-US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</a:t>
            </a:r>
            <a:r>
              <a:rPr b="0" lang="en-US" sz="140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header</a:t>
            </a: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</a:t>
            </a:r>
            <a:r>
              <a:rPr b="0" lang="en-US" sz="1400" spc="-1" strike="noStrike">
                <a:solidFill>
                  <a:srgbClr val="ffc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'Location: </a:t>
            </a: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 . $linksDir . </a:t>
            </a:r>
            <a:r>
              <a:rPr b="0" lang="en-US" sz="140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urldecode(str_replace</a:t>
            </a: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(['=dot', '='], ['.', '%'], $params[2])));</a:t>
            </a:r>
            <a:endParaRPr b="0" lang="en-US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else</a:t>
            </a:r>
            <a:endParaRPr b="0" lang="en-US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 </a:t>
            </a:r>
            <a:r>
              <a:rPr b="0" lang="en-US" sz="140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header</a:t>
            </a: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</a:t>
            </a:r>
            <a:r>
              <a:rPr b="0" lang="en-US" sz="1400" spc="-1" strike="noStrike">
                <a:solidFill>
                  <a:srgbClr val="ffc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'Location: </a:t>
            </a: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 . $linksDir);</a:t>
            </a:r>
            <a:endParaRPr b="0" lang="en-US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}</a:t>
            </a:r>
            <a:endParaRPr b="0" lang="en-US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400" spc="-1" strike="noStrike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else</a:t>
            </a:r>
            <a:endParaRPr b="0" lang="en-US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error</a:t>
            </a: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($clauses-&gt;get(</a:t>
            </a:r>
            <a:r>
              <a:rPr b="0" lang="en-US" sz="1400" spc="-1" strike="noStrike">
                <a:solidFill>
                  <a:srgbClr val="ffc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'login_needed</a:t>
            </a: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'));</a:t>
            </a:r>
            <a:endParaRPr b="0" lang="en-US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0" name="CustomShape 3"/>
          <p:cNvSpPr/>
          <p:nvPr/>
        </p:nvSpPr>
        <p:spPr>
          <a:xfrm>
            <a:off x="3447360" y="1425240"/>
            <a:ext cx="5295960" cy="2101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Controllers/members/logout.php</a:t>
            </a:r>
            <a:endParaRPr b="0" lang="en-US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Si le membre est connecté</a:t>
            </a:r>
            <a:endParaRPr b="0" lang="en-US" sz="1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</a:t>
            </a:r>
            <a:r>
              <a:rPr b="0" i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On le déconnecte en appelant la méthode logout()</a:t>
            </a:r>
            <a:endParaRPr b="0" lang="en-US" sz="1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</a:t>
            </a:r>
            <a:r>
              <a:rPr b="0" i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Si une adresse de redirection existe et ne renvoie pas vers l’administration</a:t>
            </a:r>
            <a:endParaRPr b="0" lang="en-US" sz="1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</a:t>
            </a:r>
            <a:r>
              <a:rPr b="0" i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On redirige vers cette adresse</a:t>
            </a:r>
            <a:endParaRPr b="0" lang="en-US" sz="1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</a:t>
            </a:r>
            <a:r>
              <a:rPr b="0" i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Sinon</a:t>
            </a:r>
            <a:endParaRPr b="0" lang="en-US" sz="1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</a:t>
            </a:r>
            <a:r>
              <a:rPr b="0" i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On redirige vers l’accueil</a:t>
            </a:r>
            <a:endParaRPr b="0" lang="en-US" sz="1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Sinon</a:t>
            </a:r>
            <a:endParaRPr b="0" lang="en-US" sz="1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</a:t>
            </a:r>
            <a:r>
              <a:rPr b="0" i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On affiche un message d’erreur</a:t>
            </a:r>
            <a:endParaRPr b="0" lang="en-US" sz="1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1" name="CustomShape 4"/>
          <p:cNvSpPr/>
          <p:nvPr/>
        </p:nvSpPr>
        <p:spPr>
          <a:xfrm>
            <a:off x="1772640" y="6264000"/>
            <a:ext cx="8645400" cy="368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Fonctionnement similaire pour la connexion et l’inscription mais appel à d’autres méthodes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5" dur="indefinite" restart="never" nodeType="tmRoot">
          <p:childTnLst>
            <p:seq>
              <p:cTn id="1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838440" y="-360000"/>
            <a:ext cx="10513800" cy="132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  <a:ea typeface="DejaVu Sans"/>
              </a:rPr>
              <a:t>Gestion du membre (modèle)</a:t>
            </a:r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3" name="CustomShape 2"/>
          <p:cNvSpPr/>
          <p:nvPr/>
        </p:nvSpPr>
        <p:spPr>
          <a:xfrm>
            <a:off x="164880" y="695880"/>
            <a:ext cx="11861280" cy="592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Models/Members/Handling.class.php</a:t>
            </a:r>
            <a:endParaRPr b="0" lang="en-US" sz="13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Méthode check (chacune des vérifications peut être activée ou désactivée selon le souhait)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       </a:t>
            </a:r>
            <a:endParaRPr b="0" lang="en-US" sz="13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Vérifie que le pseudonyme ne contient pas d’@ et fait plus de 3 caractères</a:t>
            </a:r>
            <a:endParaRPr b="0" lang="en-US" sz="13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Vérifie que le slug soit différent de ‘default’ et n’existe pas déjà en base de données</a:t>
            </a:r>
            <a:endParaRPr b="0" lang="en-US" sz="13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Vérifie que l’email soit correctement formatée et n’existe pas déjà en base de données</a:t>
            </a:r>
            <a:endParaRPr b="0" lang="en-US" sz="13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Vérifie que le prénom et le nom font plus de deux caractères</a:t>
            </a:r>
            <a:endParaRPr b="0" lang="en-US" sz="13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Vérifie que le mot de passe fasse plus de 6 caractères</a:t>
            </a:r>
            <a:endParaRPr b="0" lang="en-US" sz="13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Vérifie que la date de naissance est correctement formatée</a:t>
            </a:r>
            <a:endParaRPr b="0" lang="en-US" sz="13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   </a:t>
            </a:r>
            <a:endParaRPr b="0" lang="en-US" sz="13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Méthode login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       </a:t>
            </a:r>
            <a:endParaRPr b="0" lang="en-US" sz="13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On vérifie si login entré est une email ou un pseudo et choisit la colonne à récupérer ainsi</a:t>
            </a:r>
            <a:endParaRPr b="0" lang="en-US" sz="13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On récupère l'id et le mot de passe correspondant au pseudo/e-mail</a:t>
            </a:r>
            <a:endParaRPr b="0" lang="en-US" sz="13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S'il n'y a rien</a:t>
            </a:r>
            <a:endParaRPr b="0" lang="en-US" sz="13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Mauvais identifiant, on abandonne</a:t>
            </a:r>
            <a:endParaRPr b="0" lang="en-US" sz="13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Si le hash ‘slug + mdp’ entré par l’utilisateur correspond aux données présentes en base de données</a:t>
            </a:r>
            <a:endParaRPr b="0" lang="en-US" sz="13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Si le membre veut une connexion persistante (aka. cookies)</a:t>
            </a:r>
            <a:endParaRPr b="0" lang="en-US" sz="13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On stocke pseudo et salt du mdp en cookies</a:t>
            </a:r>
            <a:endParaRPr b="0" lang="en-US" sz="13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On ajoute l’id du membre à la session</a:t>
            </a:r>
            <a:endParaRPr b="0" lang="en-US" sz="13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endParaRPr b="0" lang="en-US" sz="13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Méthode logout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      </a:t>
            </a:r>
            <a:endParaRPr b="0" lang="en-US" sz="13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Détruit la session et les éventuels cookies</a:t>
            </a:r>
            <a:endParaRPr b="0" lang="en-US" sz="13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Méthode registration</a:t>
            </a:r>
            <a:endParaRPr b="0" lang="en-US" sz="13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On "nettoie" les valeurs utilisateur</a:t>
            </a:r>
            <a:endParaRPr b="0" lang="en-US" sz="13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Si l’appel à la méthode check réussit et que les deux mots de passe entrés sont égaux</a:t>
            </a:r>
            <a:endParaRPr b="0" lang="en-US" sz="13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On ajoute à la base de données l’utilisateur avec :</a:t>
            </a:r>
            <a:endParaRPr b="0" lang="en-US" sz="13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pseudo, slug, email,</a:t>
            </a:r>
            <a:endParaRPr b="0" lang="en-US" sz="13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Le type désiré en fonction du booléen $admin, </a:t>
            </a:r>
            <a:endParaRPr b="0" lang="en-US" sz="13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1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hash('sha256', $slug . $pwd2) (le mot de passe n’est jamais stocké, ni même une version chiffrée de celui ; seule une version salée est enregistrée)</a:t>
            </a:r>
            <a:endParaRPr b="0" lang="en-US" sz="13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1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1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On connecte le membre</a:t>
            </a:r>
            <a:endParaRPr b="0" lang="en-US" sz="13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7" dur="indefinite" restart="never" nodeType="tmRoot">
          <p:childTnLst>
            <p:seq>
              <p:cTn id="1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CustomShape 1"/>
          <p:cNvSpPr/>
          <p:nvPr/>
        </p:nvSpPr>
        <p:spPr>
          <a:xfrm>
            <a:off x="1299240" y="116640"/>
            <a:ext cx="9629640" cy="664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&lt;?php</a:t>
            </a:r>
            <a:endParaRPr b="0" lang="en-US" sz="11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namespace </a:t>
            </a:r>
            <a:r>
              <a:rPr b="0" lang="en-US" sz="110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Members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;</a:t>
            </a:r>
            <a:endParaRPr b="0" lang="en-US" sz="11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class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110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Handling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{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endParaRPr b="0" lang="en-US" sz="11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public static function </a:t>
            </a:r>
            <a:r>
              <a:rPr b="0" lang="en-US" sz="110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check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($nickname, $slug, $firstName, $lastName, $email, $pwd, $nicknameTest = true, $birthDate = '</a:t>
            </a:r>
            <a:r>
              <a:rPr b="0" lang="en-US" sz="1100" spc="-1" strike="noStrike">
                <a:solidFill>
                  <a:srgbClr val="ffc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0000-00-01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', $namesTest = true) {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endParaRPr b="0" lang="en-US" sz="11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…</a:t>
            </a:r>
            <a:endParaRPr b="0" lang="en-US" sz="11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}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endParaRPr b="0" lang="en-US" sz="11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public static function</a:t>
            </a:r>
            <a:r>
              <a:rPr b="0" lang="en-US" sz="110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login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($nickname, $pwd, $cookies = false) {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endParaRPr b="0" lang="en-US" sz="11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global 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$clauses;</a:t>
            </a:r>
            <a:endParaRPr b="0" lang="en-US" sz="11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if 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</a:t>
            </a:r>
            <a:r>
              <a:rPr b="0" lang="en-US" sz="110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preg_match</a:t>
            </a:r>
            <a:r>
              <a:rPr b="0" lang="en-US" sz="1100" spc="-1" strike="noStrike">
                <a:solidFill>
                  <a:srgbClr val="ffc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('#^[-0-9a-zA-Z.+_]+@[-0-9a-zA-Z.+_]+\.[a-zA-Z]{2,4}$#', 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$nickname))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endParaRPr b="0" lang="en-US" sz="11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    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$columnName = </a:t>
            </a:r>
            <a:r>
              <a:rPr b="0" lang="en-US" sz="1100" spc="-1" strike="noStrike">
                <a:solidFill>
                  <a:srgbClr val="ffc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'email';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endParaRPr b="0" lang="en-US" sz="11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else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endParaRPr b="0" lang="en-US" sz="11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    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$columnName = </a:t>
            </a:r>
            <a:r>
              <a:rPr b="0" lang="en-US" sz="1100" spc="-1" strike="noStrike">
                <a:solidFill>
                  <a:srgbClr val="ffc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'nickname'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;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endParaRPr b="0" lang="en-US" sz="11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$request = </a:t>
            </a:r>
            <a:r>
              <a:rPr b="0" lang="en-US" sz="110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\Basics\Site::getDB()-&gt;prepare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</a:t>
            </a:r>
            <a:r>
              <a:rPr b="0" lang="en-US" sz="1100" spc="-1" strike="noStrike">
                <a:solidFill>
                  <a:srgbClr val="ffc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'SELECT id, password FROM members WHERE 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 . $columnName . </a:t>
            </a:r>
            <a:r>
              <a:rPr b="0" lang="en-US" sz="1100" spc="-1" strike="noStrike">
                <a:solidFill>
                  <a:srgbClr val="ffc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 = ? AND type_id != 3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');</a:t>
            </a:r>
            <a:endParaRPr b="0" lang="en-US" sz="11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$request-&gt;</a:t>
            </a:r>
            <a:r>
              <a:rPr b="0" lang="en-US" sz="110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execute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([$nickname]);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endParaRPr b="0" lang="en-US" sz="11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$member = $request-&gt;</a:t>
            </a:r>
            <a:r>
              <a:rPr b="0" lang="en-US" sz="110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fetch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(\PDO::FETCH_ASSOC);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endParaRPr b="0" lang="en-US" sz="11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$request-&gt;</a:t>
            </a:r>
            <a:r>
              <a:rPr b="0" lang="en-US" sz="110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closeCursor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();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endParaRPr b="0" lang="en-US" sz="11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endParaRPr b="0" lang="en-US" sz="11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if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(!$member)</a:t>
            </a:r>
            <a:endParaRPr b="0" lang="en-US" sz="11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    </a:t>
            </a:r>
            <a:r>
              <a:rPr b="0" lang="en-US" sz="1100" spc="-1" strike="noStrike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return </a:t>
            </a:r>
            <a:r>
              <a:rPr b="0" lang="en-US" sz="110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error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($clauses-&gt;</a:t>
            </a:r>
            <a:r>
              <a:rPr b="0" lang="en-US" sz="110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get(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</a:t>
            </a:r>
            <a:r>
              <a:rPr b="0" lang="en-US" sz="1100" spc="-1" strike="noStrike">
                <a:solidFill>
                  <a:srgbClr val="ffc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invalid_user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'))</a:t>
            </a:r>
            <a:endParaRPr b="0" lang="en-US" sz="11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elseif 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</a:t>
            </a:r>
            <a:r>
              <a:rPr b="0" lang="en-US" sz="110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empty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($member['</a:t>
            </a:r>
            <a:r>
              <a:rPr b="0" lang="en-US" sz="1100" spc="-1" strike="noStrike">
                <a:solidFill>
                  <a:srgbClr val="ffc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id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']) OR </a:t>
            </a:r>
            <a:r>
              <a:rPr b="0" lang="en-US" sz="110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empty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($nickname) OR </a:t>
            </a:r>
            <a:r>
              <a:rPr b="0" lang="en-US" sz="110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empty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($pwd) OR !</a:t>
            </a:r>
            <a:r>
              <a:rPr b="0" lang="en-US" sz="110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empty(\Basics\site::session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</a:t>
            </a:r>
            <a:r>
              <a:rPr b="0" lang="en-US" sz="1100" spc="-1" strike="noStrike">
                <a:solidFill>
                  <a:srgbClr val="ffc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'member_id'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)))</a:t>
            </a:r>
            <a:endParaRPr b="0" lang="en-US" sz="11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    </a:t>
            </a:r>
            <a:r>
              <a:rPr b="0" lang="en-US" sz="1100" spc="-1" strike="noStrike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return false;</a:t>
            </a:r>
            <a:endParaRPr b="0" lang="en-US" sz="11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elseif 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($pwd === $member[</a:t>
            </a:r>
            <a:r>
              <a:rPr b="0" lang="en-US" sz="1100" spc="-1" strike="noStrike">
                <a:solidFill>
                  <a:srgbClr val="ffc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'password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']) {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endParaRPr b="0" lang="en-US" sz="11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    </a:t>
            </a:r>
            <a:r>
              <a:rPr b="0" lang="en-US" sz="1100" spc="-1" strike="noStrike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if 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($cookies) {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endParaRPr b="0" lang="en-US" sz="11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        </a:t>
            </a:r>
            <a:r>
              <a:rPr b="0" lang="en-US" sz="110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\Basics\site::cookie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</a:t>
            </a:r>
            <a:r>
              <a:rPr b="0" lang="en-US" sz="1100" spc="-1" strike="noStrike">
                <a:solidFill>
                  <a:srgbClr val="ffc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'name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', $nickname);</a:t>
            </a:r>
            <a:endParaRPr b="0" lang="en-US" sz="11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        </a:t>
            </a:r>
            <a:r>
              <a:rPr b="0" lang="en-US" sz="110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\Basics\site::cookie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('</a:t>
            </a:r>
            <a:r>
              <a:rPr b="0" lang="en-US" sz="1100" spc="-1" strike="noStrike">
                <a:solidFill>
                  <a:srgbClr val="ffc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password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', $member['</a:t>
            </a:r>
            <a:r>
              <a:rPr b="0" lang="en-US" sz="1100" spc="-1" strike="noStrike">
                <a:solidFill>
                  <a:srgbClr val="ffc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password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']);</a:t>
            </a:r>
            <a:endParaRPr b="0" lang="en-US" sz="11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    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}</a:t>
            </a:r>
            <a:endParaRPr b="0" lang="en-US" sz="11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endParaRPr b="0" lang="en-US" sz="11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    </a:t>
            </a:r>
            <a:r>
              <a:rPr b="0" lang="en-US" sz="110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\Basics\site::session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('</a:t>
            </a:r>
            <a:r>
              <a:rPr b="0" lang="en-US" sz="1100" spc="-1" strike="noStrike">
                <a:solidFill>
                  <a:srgbClr val="ffc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member_id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', </a:t>
            </a:r>
            <a:r>
              <a:rPr b="0" lang="en-US" sz="110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(int) 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$member['id']);</a:t>
            </a:r>
            <a:endParaRPr b="0" lang="en-US" sz="11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    </a:t>
            </a:r>
            <a:r>
              <a:rPr b="0" lang="en-US" sz="1100" spc="-1" strike="noStrike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return true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;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endParaRPr b="0" lang="en-US" sz="11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}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endParaRPr b="0" lang="en-US" sz="11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else return false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;</a:t>
            </a:r>
            <a:endParaRPr b="0" lang="en-US" sz="11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}</a:t>
            </a:r>
            <a:endParaRPr b="0" lang="en-US" sz="11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…</a:t>
            </a:r>
            <a:endParaRPr b="0" lang="en-US" sz="11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9" dur="indefinite" restart="never" nodeType="tmRoot">
          <p:childTnLst>
            <p:seq>
              <p:cTn id="2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stomShape 1"/>
          <p:cNvSpPr/>
          <p:nvPr/>
        </p:nvSpPr>
        <p:spPr>
          <a:xfrm>
            <a:off x="657000" y="294120"/>
            <a:ext cx="10876680" cy="628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…</a:t>
            </a:r>
            <a:endParaRPr b="0" lang="en-US" sz="125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</a:t>
            </a:r>
            <a:r>
              <a:rPr b="0" lang="en-US" sz="1250" spc="-1" strike="noStrike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public static function </a:t>
            </a:r>
            <a:r>
              <a:rPr b="0" lang="en-US" sz="125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logout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() {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endParaRPr b="0" lang="en-US" sz="125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250" spc="-1" strike="noStrike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</a:t>
            </a:r>
            <a:r>
              <a:rPr b="0" lang="en-US" sz="1250" spc="-1" strike="noStrike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global 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$topDir;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endParaRPr b="0" lang="en-US" sz="125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endParaRPr b="0" lang="en-US" sz="125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</a:t>
            </a:r>
            <a:r>
              <a:rPr b="0" lang="en-US" sz="125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session_destroy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();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endParaRPr b="0" lang="en-US" sz="125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</a:t>
            </a:r>
            <a:r>
              <a:rPr b="0" lang="en-US" sz="125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setcookie(\Basics\Strings::slug(\Basics\Site::parameter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('</a:t>
            </a:r>
            <a:r>
              <a:rPr b="0" lang="en-US" sz="1250" spc="-1" strike="noStrike">
                <a:solidFill>
                  <a:srgbClr val="ffc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name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')) . </a:t>
            </a:r>
            <a:r>
              <a:rPr b="0" lang="en-US" sz="1250" spc="-1" strike="noStrike">
                <a:solidFill>
                  <a:srgbClr val="ffc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'_name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', '', </a:t>
            </a:r>
            <a:r>
              <a:rPr b="0" lang="en-US" sz="125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time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(), $topDir, null, false, true);</a:t>
            </a:r>
            <a:endParaRPr b="0" lang="en-US" sz="125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</a:t>
            </a:r>
            <a:r>
              <a:rPr b="0" lang="en-US" sz="125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setcookie(\Basics\Strings::slug(\Basics\Site::parameter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</a:t>
            </a:r>
            <a:r>
              <a:rPr b="0" lang="en-US" sz="1250" spc="-1" strike="noStrike">
                <a:solidFill>
                  <a:srgbClr val="ffc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'name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')) . </a:t>
            </a:r>
            <a:r>
              <a:rPr b="0" lang="en-US" sz="1250" spc="-1" strike="noStrike">
                <a:solidFill>
                  <a:srgbClr val="ffc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'_password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', '', </a:t>
            </a:r>
            <a:r>
              <a:rPr b="0" lang="en-US" sz="125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time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(), $topDir, null, false, true);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endParaRPr b="0" lang="en-US" sz="125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endParaRPr b="0" lang="en-US" sz="125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</a:t>
            </a:r>
            <a:r>
              <a:rPr b="0" lang="en-US" sz="1250" spc="-1" strike="noStrike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return </a:t>
            </a:r>
            <a:r>
              <a:rPr b="0" lang="en-US" sz="1250" spc="-1" strike="noStrike">
                <a:solidFill>
                  <a:srgbClr val="5b9bd5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true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;</a:t>
            </a:r>
            <a:endParaRPr b="0" lang="en-US" sz="125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}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endParaRPr b="0" lang="en-US" sz="125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endParaRPr b="0" lang="en-US" sz="125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</a:t>
            </a:r>
            <a:r>
              <a:rPr b="0" lang="en-US" sz="1250" spc="-1" strike="noStrike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public static function </a:t>
            </a:r>
            <a:r>
              <a:rPr b="0" lang="en-US" sz="125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registration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($nickname, $email, $pwd1, $pwd2, $cookies = false, $admin = false) {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endParaRPr b="0" lang="en-US" sz="125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$nickname = </a:t>
            </a:r>
            <a:r>
              <a:rPr b="0" lang="en-US" sz="125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htmlspecialchars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($nickname);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endParaRPr b="0" lang="en-US" sz="125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$email = </a:t>
            </a:r>
            <a:r>
              <a:rPr b="0" lang="en-US" sz="125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htmlspecialchars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($email);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endParaRPr b="0" lang="en-US" sz="125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$slug = \</a:t>
            </a:r>
            <a:r>
              <a:rPr b="0" lang="en-US" sz="125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Basics\Strings::slug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($nickname);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endParaRPr b="0" lang="en-US" sz="125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5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</a:t>
            </a:r>
            <a:r>
              <a:rPr b="0" lang="en-US" sz="1250" spc="-1" strike="noStrike">
                <a:solidFill>
                  <a:srgbClr val="5b9bd5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if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(</a:t>
            </a:r>
            <a:r>
              <a:rPr b="0" lang="en-US" sz="125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self::check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($nickname, $slug, null, null, $email, $pwd2, true, '</a:t>
            </a:r>
            <a:r>
              <a:rPr b="0" lang="en-US" sz="1250" spc="-1" strike="noStrike">
                <a:solidFill>
                  <a:srgbClr val="ffc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0000-00-01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', false) AND $pwd1 === $pwd2) {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endParaRPr b="0" lang="en-US" sz="125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    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$request = \</a:t>
            </a:r>
            <a:r>
              <a:rPr b="0" lang="en-US" sz="125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Basics\Site::getDB()-&gt;prepare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</a:t>
            </a:r>
            <a:r>
              <a:rPr b="0" lang="en-US" sz="1250" spc="-1" strike="noStrike">
                <a:solidFill>
                  <a:srgbClr val="ffc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'INSERT INTO members (type_id, nickname, slug, email, password, registration) VALUES (?, ?, ?, ?, ?, NOW())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');</a:t>
            </a:r>
            <a:endParaRPr b="0" lang="en-US" sz="125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    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$request-&gt;</a:t>
            </a:r>
            <a:r>
              <a:rPr b="0" lang="en-US" sz="125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execute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([($admin ? 1 : </a:t>
            </a:r>
            <a:r>
              <a:rPr b="0" lang="en-US" sz="125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\Basics\Site::parameter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('</a:t>
            </a:r>
            <a:r>
              <a:rPr b="0" lang="en-US" sz="1250" spc="-1" strike="noStrike">
                <a:solidFill>
                  <a:srgbClr val="ffc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default_users_type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')), $nickname, $slug, $email, </a:t>
            </a:r>
            <a:r>
              <a:rPr b="0" lang="en-US" sz="125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hash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('</a:t>
            </a:r>
            <a:r>
              <a:rPr b="0" lang="en-US" sz="1250" spc="-1" strike="noStrike">
                <a:solidFill>
                  <a:srgbClr val="ffc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sha256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', $slug . $pwd2)]);</a:t>
            </a:r>
            <a:endParaRPr b="0" lang="en-US" sz="125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5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    </a:t>
            </a:r>
            <a:r>
              <a:rPr b="0" lang="en-US" sz="1250" spc="-1" strike="noStrike">
                <a:solidFill>
                  <a:srgbClr val="5b9bd5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if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(</a:t>
            </a:r>
            <a:r>
              <a:rPr b="0" lang="en-US" sz="125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self::login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($nickname, </a:t>
            </a:r>
            <a:r>
              <a:rPr b="0" lang="en-US" sz="125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hash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('</a:t>
            </a:r>
            <a:r>
              <a:rPr b="0" lang="en-US" sz="1250" spc="-1" strike="noStrike">
                <a:solidFill>
                  <a:srgbClr val="ffc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sha256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', $slug . $pwd2), $cookies))</a:t>
            </a:r>
            <a:endParaRPr b="0" lang="en-US" sz="125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         </a:t>
            </a:r>
            <a:r>
              <a:rPr b="0" lang="en-US" sz="1250" spc="-1" strike="noStrike">
                <a:solidFill>
                  <a:srgbClr val="5b9bd5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return true;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endParaRPr b="0" lang="en-US" sz="125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    </a:t>
            </a:r>
            <a:r>
              <a:rPr b="0" lang="en-US" sz="1250" spc="-1" strike="noStrike">
                <a:solidFill>
                  <a:srgbClr val="5b9bd5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elseif 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(!$admin) {</a:t>
            </a:r>
            <a:endParaRPr b="0" lang="en-US" sz="125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       </a:t>
            </a:r>
            <a:r>
              <a:rPr b="0" lang="en-US" sz="1250" spc="-1" strike="noStrike">
                <a:solidFill>
                  <a:srgbClr val="5b9bd5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global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$clauses;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endParaRPr b="0" lang="en-US" sz="125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5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       </a:t>
            </a:r>
            <a:r>
              <a:rPr b="0" lang="en-US" sz="1250" spc="-1" strike="noStrike">
                <a:solidFill>
                  <a:srgbClr val="5b9bd5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return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error(stripslashes(eval($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clauses-&gt;</a:t>
            </a:r>
            <a:r>
              <a:rPr b="0" lang="en-US" sz="1250" spc="-1" strike="noStrike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getMagic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('</a:t>
            </a:r>
            <a:r>
              <a:rPr b="0" lang="en-US" sz="1250" spc="-1" strike="noStrike">
                <a:solidFill>
                  <a:srgbClr val="ffc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login_fail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'))));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endParaRPr b="0" lang="en-US" sz="125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    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}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endParaRPr b="0" lang="en-US" sz="125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}</a:t>
            </a:r>
            <a:endParaRPr b="0" lang="en-US" sz="125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250" spc="-1" strike="noStrike">
                <a:solidFill>
                  <a:srgbClr val="5b9bd5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</a:t>
            </a:r>
            <a:r>
              <a:rPr b="0" lang="en-US" sz="1250" spc="-1" strike="noStrike">
                <a:solidFill>
                  <a:srgbClr val="5b9bd5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else</a:t>
            </a:r>
            <a:endParaRPr b="0" lang="en-US" sz="125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5b9bd5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250" spc="-1" strike="noStrike">
                <a:solidFill>
                  <a:srgbClr val="5b9bd5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        </a:t>
            </a:r>
            <a:r>
              <a:rPr b="0" lang="en-US" sz="1250" spc="-1" strike="noStrike">
                <a:solidFill>
                  <a:srgbClr val="5b9bd5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return false;</a:t>
            </a:r>
            <a:endParaRPr b="0" lang="en-US" sz="125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   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}</a:t>
            </a:r>
            <a:endParaRPr b="0" lang="en-US" sz="125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lang="en-US" sz="12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}</a:t>
            </a:r>
            <a:endParaRPr b="0" lang="en-US" sz="125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21" dur="indefinite" restart="never" nodeType="tmRoot">
          <p:childTnLst>
            <p:seq>
              <p:cTn id="2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1"/>
          <p:cNvSpPr/>
          <p:nvPr/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  <a:ea typeface="DejaVu Sans"/>
              </a:rPr>
              <a:t>Gestion du membre (vues)</a:t>
            </a:r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7" name="CustomShape 2"/>
          <p:cNvSpPr/>
          <p:nvPr/>
        </p:nvSpPr>
        <p:spPr>
          <a:xfrm>
            <a:off x="3943800" y="2599560"/>
            <a:ext cx="4368960" cy="1699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Themes/default/views/members/login.php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Formulaire POST redirigeant vers la même page</a:t>
            </a:r>
            <a:endParaRPr b="0" lang="en-US" sz="1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Champ “name” de type text</a:t>
            </a:r>
            <a:endParaRPr b="0" lang="en-US" sz="1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Champ “pwd” de type password</a:t>
            </a:r>
            <a:endParaRPr b="0" lang="en-US" sz="1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Champ “cookies” de type checkbox</a:t>
            </a:r>
            <a:endParaRPr b="0" lang="en-US" sz="1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Lien vers page d”inscription</a:t>
            </a:r>
            <a:endParaRPr b="0" lang="en-US" sz="1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</a:t>
            </a:r>
            <a:r>
              <a:rPr b="0" i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Bouton déclenchant l’envoi des données, label “login”</a:t>
            </a:r>
            <a:endParaRPr b="0" lang="en-US" sz="1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23" dur="indefinite" restart="never" nodeType="tmRoot">
          <p:childTnLst>
            <p:seq>
              <p:cTn id="2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751320" y="119880"/>
            <a:ext cx="10689480" cy="66182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5" dur="indefinite" restart="never" nodeType="tmRoot">
          <p:childTnLst>
            <p:seq>
              <p:cTn id="2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CustomShape 1"/>
          <p:cNvSpPr/>
          <p:nvPr/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  <a:ea typeface="DejaVu Sans"/>
              </a:rPr>
              <a:t>Bibliographie</a:t>
            </a:r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1788480" y="1370880"/>
            <a:ext cx="8614080" cy="3710160"/>
          </a:xfrm>
          <a:prstGeom prst="rect">
            <a:avLst/>
          </a:prstGeom>
          <a:ln>
            <a:noFill/>
          </a:ln>
        </p:spPr>
      </p:pic>
      <p:sp>
        <p:nvSpPr>
          <p:cNvPr id="101" name="CustomShape 2"/>
          <p:cNvSpPr/>
          <p:nvPr/>
        </p:nvSpPr>
        <p:spPr>
          <a:xfrm>
            <a:off x="4002480" y="5328000"/>
            <a:ext cx="4186080" cy="34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Tous sous licence MIT ou libres de droit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27" dur="indefinite" restart="never" nodeType="tmRoot">
          <p:childTnLst>
            <p:seq>
              <p:cTn id="2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CustomShape 1"/>
          <p:cNvSpPr/>
          <p:nvPr/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  <a:ea typeface="DejaVu Sans"/>
              </a:rPr>
              <a:t>Conclusion</a:t>
            </a:r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3" name="CustomShape 2"/>
          <p:cNvSpPr/>
          <p:nvPr/>
        </p:nvSpPr>
        <p:spPr>
          <a:xfrm>
            <a:off x="2016360" y="2410200"/>
            <a:ext cx="8223480" cy="2468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en-US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Problèmes à régler :</a:t>
            </a:r>
            <a:endParaRPr b="0" lang="en-US" sz="2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68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Quelques ajustements au niveau du responsive design </a:t>
            </a:r>
            <a:endParaRPr b="0" lang="en-US" sz="2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68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Problème de téléchargement vers un serveur de médias</a:t>
            </a:r>
            <a:endParaRPr b="0" lang="en-US" sz="2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68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Sécurité à renforcer</a:t>
            </a:r>
            <a:endParaRPr b="0" lang="en-US" sz="2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29" dur="indefinite" restart="never" nodeType="tmRoot">
          <p:childTnLst>
            <p:seq>
              <p:cTn id="3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9902</TotalTime>
  <Application>LibreOffice/5.2.7.2$Windows_X86_64 LibreOffice_project/2b7f1e640c46ceb28adf43ee075a6e8b8439ed10</Application>
  <Words>76</Words>
  <Paragraphs>107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2017-05-08T18:02:53Z</dcterms:created>
  <dc:creator>Utilisateur de Microsoft Office</dc:creator>
  <dc:description/>
  <dc:language>fr-FR</dc:language>
  <cp:lastModifiedBy/>
  <dcterms:modified xsi:type="dcterms:W3CDTF">2017-05-22T23:05:57Z</dcterms:modified>
  <cp:revision>46</cp:revision>
  <dc:subject/>
  <dc:title>ATFCHAT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15.0025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Grand écran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14</vt:i4>
  </property>
</Properties>
</file>